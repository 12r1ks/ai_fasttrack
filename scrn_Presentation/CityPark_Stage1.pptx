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94523"/>
            <a:ext cx="10881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0" dirty="0">
                <a:solidFill>
                  <a:srgbClr val="FFFFFF"/>
                </a:solidFill>
              </a:rPr>
              <a:t>Parking</a:t>
            </a:r>
            <a:r>
              <a:rPr sz="4400" b="1" i="0" dirty="0">
                <a:solidFill>
                  <a:srgbClr val="FFFFFF"/>
                </a:solidFill>
              </a:rPr>
              <a:t>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0363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8A6FF"/>
                </a:solidFill>
              </a:rPr>
              <a:t>Stage 1 — RAG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</a:rPr>
              <a:t>LangGraph StateGraph</a:t>
            </a:r>
          </a:p>
        </p:txBody>
      </p:sp>
      <p:pic>
        <p:nvPicPr>
          <p:cNvPr id="4" name="Picture 3" descr="LangSm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9395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6486" y="1713145"/>
            <a:ext cx="3692036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58A6FF"/>
                </a:solidFill>
              </a:rPr>
              <a:t>Nodes</a:t>
            </a:r>
          </a:p>
          <a:p>
            <a:pPr algn="l"/>
            <a:r>
              <a:rPr lang="en-US" sz="1200" b="0" dirty="0">
                <a:solidFill>
                  <a:srgbClr val="C9D1D9"/>
                </a:solidFill>
              </a:rPr>
              <a:t>1) </a:t>
            </a:r>
            <a:r>
              <a:rPr sz="1200" b="0" dirty="0" err="1">
                <a:solidFill>
                  <a:srgbClr val="C9D1D9"/>
                </a:solidFill>
              </a:rPr>
              <a:t>init</a:t>
            </a:r>
            <a:r>
              <a:rPr sz="1200" b="0" dirty="0">
                <a:solidFill>
                  <a:srgbClr val="C9D1D9"/>
                </a:solidFill>
              </a:rPr>
              <a:t>  —  resets loop counter per request</a:t>
            </a:r>
          </a:p>
          <a:p>
            <a:pPr algn="l"/>
            <a:r>
              <a:rPr lang="en-US" sz="1200" b="0" dirty="0">
                <a:solidFill>
                  <a:srgbClr val="C9D1D9"/>
                </a:solidFill>
              </a:rPr>
              <a:t>2) </a:t>
            </a:r>
            <a:r>
              <a:rPr sz="1200" b="0" dirty="0" err="1">
                <a:solidFill>
                  <a:srgbClr val="C9D1D9"/>
                </a:solidFill>
              </a:rPr>
              <a:t>guard_route</a:t>
            </a:r>
            <a:r>
              <a:rPr sz="1200" b="0" dirty="0">
                <a:solidFill>
                  <a:srgbClr val="C9D1D9"/>
                </a:solidFill>
              </a:rPr>
              <a:t>  —</a:t>
            </a:r>
            <a:r>
              <a:rPr lang="en-US" sz="1200" b="0" dirty="0">
                <a:solidFill>
                  <a:srgbClr val="C9D1D9"/>
                </a:solidFill>
              </a:rPr>
              <a:t> Checks for user’s intent. Semantic Guard.</a:t>
            </a:r>
            <a:r>
              <a:rPr sz="1200" b="0" dirty="0">
                <a:solidFill>
                  <a:srgbClr val="C9D1D9"/>
                </a:solidFill>
              </a:rPr>
              <a:t>  LLM classifier → </a:t>
            </a:r>
            <a:r>
              <a:rPr sz="1200" b="0" dirty="0" err="1">
                <a:solidFill>
                  <a:srgbClr val="C9D1D9"/>
                </a:solidFill>
              </a:rPr>
              <a:t>llm_call</a:t>
            </a:r>
            <a:r>
              <a:rPr sz="1200" b="0" dirty="0">
                <a:solidFill>
                  <a:srgbClr val="C9D1D9"/>
                </a:solidFill>
              </a:rPr>
              <a:t> </a:t>
            </a:r>
            <a:r>
              <a:rPr lang="en-US" sz="1200" b="0" dirty="0">
                <a:solidFill>
                  <a:srgbClr val="C9D1D9"/>
                </a:solidFill>
              </a:rPr>
              <a:t>(heart of the agent)</a:t>
            </a:r>
            <a:r>
              <a:rPr sz="1200" b="0" dirty="0">
                <a:solidFill>
                  <a:srgbClr val="C9D1D9"/>
                </a:solidFill>
              </a:rPr>
              <a:t>/ reject</a:t>
            </a:r>
            <a:r>
              <a:rPr lang="en-US" sz="1200" b="0" dirty="0">
                <a:solidFill>
                  <a:srgbClr val="C9D1D9"/>
                </a:solidFill>
              </a:rPr>
              <a:t>(node leading to an end)</a:t>
            </a:r>
          </a:p>
          <a:p>
            <a:r>
              <a:rPr lang="en-US" sz="1200" dirty="0">
                <a:solidFill>
                  <a:srgbClr val="C9D1D9"/>
                </a:solidFill>
              </a:rPr>
              <a:t>3) </a:t>
            </a:r>
            <a:r>
              <a:rPr lang="en-US" sz="1200" b="0" dirty="0">
                <a:solidFill>
                  <a:srgbClr val="C9D1D9"/>
                </a:solidFill>
              </a:rPr>
              <a:t>reject  —  adds a “reject” message. Node might be expanded later on.</a:t>
            </a:r>
            <a:endParaRPr sz="1200" b="0" dirty="0">
              <a:solidFill>
                <a:srgbClr val="C9D1D9"/>
              </a:solidFill>
            </a:endParaRPr>
          </a:p>
          <a:p>
            <a:pPr algn="l"/>
            <a:r>
              <a:rPr lang="en-US" sz="1200" b="0" dirty="0">
                <a:solidFill>
                  <a:srgbClr val="C9D1D9"/>
                </a:solidFill>
              </a:rPr>
              <a:t>4) </a:t>
            </a:r>
            <a:r>
              <a:rPr sz="1200" b="0" dirty="0" err="1">
                <a:solidFill>
                  <a:srgbClr val="C9D1D9"/>
                </a:solidFill>
              </a:rPr>
              <a:t>llm_call</a:t>
            </a:r>
            <a:r>
              <a:rPr sz="1200" b="0" dirty="0">
                <a:solidFill>
                  <a:srgbClr val="C9D1D9"/>
                </a:solidFill>
              </a:rPr>
              <a:t>  —  main node, tool-bound</a:t>
            </a:r>
            <a:r>
              <a:rPr lang="en-US" sz="1200" b="0" dirty="0">
                <a:solidFill>
                  <a:srgbClr val="C9D1D9"/>
                </a:solidFill>
              </a:rPr>
              <a:t>, decides which action to take. Handle client.</a:t>
            </a:r>
            <a:endParaRPr sz="1200" b="0" dirty="0">
              <a:solidFill>
                <a:srgbClr val="C9D1D9"/>
              </a:solidFill>
            </a:endParaRPr>
          </a:p>
          <a:p>
            <a:pPr algn="l"/>
            <a:r>
              <a:rPr lang="en-US" sz="1200" dirty="0">
                <a:solidFill>
                  <a:srgbClr val="C9D1D9"/>
                </a:solidFill>
              </a:rPr>
              <a:t>5</a:t>
            </a:r>
            <a:r>
              <a:rPr lang="en-US" sz="1200" b="0" dirty="0">
                <a:solidFill>
                  <a:srgbClr val="C9D1D9"/>
                </a:solidFill>
              </a:rPr>
              <a:t>) </a:t>
            </a:r>
            <a:r>
              <a:rPr sz="1200" b="0" dirty="0" err="1">
                <a:solidFill>
                  <a:srgbClr val="C9D1D9"/>
                </a:solidFill>
              </a:rPr>
              <a:t>tool_node</a:t>
            </a:r>
            <a:r>
              <a:rPr sz="1200" b="0" dirty="0">
                <a:solidFill>
                  <a:srgbClr val="C9D1D9"/>
                </a:solidFill>
              </a:rPr>
              <a:t>  —  dispatches tools, updates state</a:t>
            </a:r>
          </a:p>
          <a:p>
            <a:pPr algn="l"/>
            <a:r>
              <a:rPr lang="en-US" sz="1200" dirty="0">
                <a:solidFill>
                  <a:srgbClr val="C9D1D9"/>
                </a:solidFill>
              </a:rPr>
              <a:t>6</a:t>
            </a:r>
            <a:r>
              <a:rPr lang="en-US" sz="1200" b="0" dirty="0">
                <a:solidFill>
                  <a:srgbClr val="C9D1D9"/>
                </a:solidFill>
              </a:rPr>
              <a:t>) </a:t>
            </a:r>
            <a:r>
              <a:rPr sz="1200" b="0" dirty="0" err="1">
                <a:solidFill>
                  <a:srgbClr val="C9D1D9"/>
                </a:solidFill>
              </a:rPr>
              <a:t>pre_end_guard</a:t>
            </a:r>
            <a:r>
              <a:rPr sz="1200" b="0" dirty="0">
                <a:solidFill>
                  <a:srgbClr val="C9D1D9"/>
                </a:solidFill>
              </a:rPr>
              <a:t>  —  output filter before response leaves</a:t>
            </a:r>
            <a:endParaRPr lang="en-US" sz="1200" b="0" dirty="0">
              <a:solidFill>
                <a:srgbClr val="C9D1D9"/>
              </a:solidFill>
            </a:endParaRPr>
          </a:p>
          <a:p>
            <a:pPr algn="l"/>
            <a:endParaRPr lang="en-US" sz="1200" dirty="0">
              <a:solidFill>
                <a:srgbClr val="C9D1D9"/>
              </a:solidFill>
            </a:endParaRPr>
          </a:p>
          <a:p>
            <a:pPr algn="l"/>
            <a:endParaRPr lang="en-US" sz="1200" b="0" dirty="0">
              <a:solidFill>
                <a:srgbClr val="C9D1D9"/>
              </a:solidFill>
            </a:endParaRPr>
          </a:p>
          <a:p>
            <a:pPr algn="l"/>
            <a:r>
              <a:rPr lang="en-US" sz="1200" dirty="0">
                <a:solidFill>
                  <a:srgbClr val="C9D1D9"/>
                </a:solidFill>
              </a:rPr>
              <a:t>IMPORTANT INFO: I Decided to use RAG via a tool, following logic that sometimes its not needed. Logic might be reverted with RAG retrieval results updating a state, or context window in the INIT node</a:t>
            </a:r>
            <a:endParaRPr sz="1200" b="0" dirty="0"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8A6FF"/>
                </a:solidFill>
              </a:rPr>
              <a:t>Three independent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58A6FF"/>
                </a:solidFill>
              </a:rPr>
              <a:t>Input Guard  (</a:t>
            </a:r>
            <a:r>
              <a:rPr sz="1300" b="1" dirty="0" err="1">
                <a:solidFill>
                  <a:srgbClr val="58A6FF"/>
                </a:solidFill>
              </a:rPr>
              <a:t>guard_route</a:t>
            </a:r>
            <a:r>
              <a:rPr sz="1300" b="1" dirty="0">
                <a:solidFill>
                  <a:srgbClr val="58A6FF"/>
                </a:solidFill>
              </a:rPr>
              <a:t>)</a:t>
            </a:r>
          </a:p>
          <a:p>
            <a:pPr algn="l"/>
            <a:r>
              <a:rPr sz="1200" b="0" dirty="0">
                <a:solidFill>
                  <a:srgbClr val="C9D1D9"/>
                </a:solidFill>
              </a:rPr>
              <a:t>Structured-output LLM classifier on every message</a:t>
            </a:r>
          </a:p>
          <a:p>
            <a:pPr algn="l"/>
            <a:r>
              <a:rPr sz="1200" b="0" dirty="0">
                <a:solidFill>
                  <a:srgbClr val="C9D1D9"/>
                </a:solidFill>
              </a:rPr>
              <a:t>Routes to reject: off-topic, prompt injection, adversarial roleplay</a:t>
            </a:r>
            <a:r>
              <a:rPr lang="en-US" sz="1200" b="0" dirty="0">
                <a:solidFill>
                  <a:srgbClr val="C9D1D9"/>
                </a:solidFill>
              </a:rPr>
              <a:t>.</a:t>
            </a:r>
            <a:endParaRPr sz="1200" b="0" dirty="0">
              <a:solidFill>
                <a:srgbClr val="C9D1D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Output Guard  (pre_end_guard)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Regex pass on every response before it leaves the graph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Masks phone numbers:  +37529…7600  →  +37*****7600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Runs on both normal and reject-path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Data Isolation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FAISS  —  static parking info only  (no PII)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SQLite  —  spot inventory + booking slots  (no names, no phones)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Personal data lives only in graph state  (in-memory, session-scoped)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Tools have no path to personal data by design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Input and output guards cover different threat vectors:</a:t>
            </a:r>
          </a:p>
          <a:p>
            <a:pPr algn="l"/>
            <a:r>
              <a:rPr sz="1200" b="0">
                <a:solidFill>
                  <a:srgbClr val="C9D1D9"/>
                </a:solidFill>
              </a:rPr>
              <a:t>  semantic (LLM-based)  vs  structural (regex-based)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Technical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58A6FF"/>
                </a:solidFill>
              </a:rPr>
              <a:t>LangGraph</a:t>
            </a:r>
            <a:r>
              <a:rPr sz="1300" b="1" i="0" dirty="0">
                <a:solidFill>
                  <a:srgbClr val="58A6FF"/>
                </a:solidFill>
              </a:rPr>
              <a:t> </a:t>
            </a:r>
            <a:r>
              <a:rPr sz="1300" b="1" i="0" dirty="0" err="1">
                <a:solidFill>
                  <a:srgbClr val="58A6FF"/>
                </a:solidFill>
              </a:rPr>
              <a:t>StateGraph</a:t>
            </a:r>
            <a:endParaRPr sz="1300" b="1" i="0" dirty="0">
              <a:solidFill>
                <a:srgbClr val="58A6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80" y="134416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Explicit state, conditional routing, and interrupt/resume support for Stage 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134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58A6FF"/>
                </a:solidFill>
              </a:rPr>
              <a:t>LlamaIndex</a:t>
            </a:r>
            <a:r>
              <a:rPr sz="1300" b="1" i="0" dirty="0">
                <a:solidFill>
                  <a:srgbClr val="58A6FF"/>
                </a:solidFill>
              </a:rPr>
              <a:t> FAISS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33172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Direct embedding config control; avoids langchain-community abstraction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0098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InMemorySaver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31927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Sufficient for this project — fully supports interrupt/resume within the same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8853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Dual compile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306824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agent.py compiles without checkpointer for eval; app.py recompiles with InMemorySaver for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Tools &amp; 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071831"/>
              </p:ext>
            </p:extLst>
          </p:nvPr>
        </p:nvGraphicFramePr>
        <p:xfrm>
          <a:off x="640080" y="128016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+mj-lt"/>
                        </a:rPr>
                        <a:t>Tool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When the LLM calls it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C9D1D9"/>
                          </a:solidFill>
                          <a:latin typeface="+mj-lt"/>
                        </a:rPr>
                        <a:t>Price_Calculator</a:t>
                      </a:r>
                      <a:endParaRPr sz="1400" b="1" dirty="0">
                        <a:solidFill>
                          <a:srgbClr val="C9D1D9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C9D1D9"/>
                          </a:solidFill>
                        </a:rPr>
                        <a:t>For price-calculating for user’s booking</a:t>
                      </a:r>
                      <a:endParaRPr sz="1400" dirty="0">
                        <a:solidFill>
                          <a:srgbClr val="C9D1D9"/>
                        </a:solidFill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C9D1D9"/>
                          </a:solidFill>
                        </a:rPr>
                        <a:t>Pure computation</a:t>
                      </a:r>
                      <a:endParaRPr lang="en-US" sz="1400" dirty="0">
                        <a:solidFill>
                          <a:srgbClr val="C9D1D9"/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rgbClr val="C9D1D9"/>
                          </a:solidFill>
                        </a:rPr>
                        <a:t>gets data from Vector DB of company’s info</a:t>
                      </a:r>
                      <a:endParaRPr sz="1400" dirty="0">
                        <a:solidFill>
                          <a:srgbClr val="C9D1D9"/>
                        </a:solidFill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C9D1D9"/>
                          </a:solidFill>
                          <a:latin typeface="+mj-lt"/>
                        </a:rPr>
                        <a:t>Retrieve_data_from_company_database</a:t>
                      </a:r>
                      <a:endParaRPr sz="1400" b="1" dirty="0">
                        <a:solidFill>
                          <a:srgbClr val="C9D1D9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C9D1D9"/>
                          </a:solidFill>
                        </a:rPr>
                        <a:t>Questions about locations, hours, policy, rates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C9D1D9"/>
                          </a:solidFill>
                        </a:rPr>
                        <a:t>FAISS vector store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C9D1D9"/>
                          </a:solidFill>
                          <a:latin typeface="+mj-lt"/>
                        </a:rPr>
                        <a:t>query_available_spots</a:t>
                      </a:r>
                      <a:endParaRPr sz="1400" b="1" dirty="0">
                        <a:solidFill>
                          <a:srgbClr val="C9D1D9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C9D1D9"/>
                          </a:solidFill>
                        </a:rPr>
                        <a:t>Checking if a time slot is free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9D1D9"/>
                          </a:solidFill>
                        </a:rPr>
                        <a:t>SQLite — spots + bookings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C9D1D9"/>
                          </a:solidFill>
                          <a:latin typeface="+mj-lt"/>
                        </a:rPr>
                        <a:t>store_or_update_info_for_parking_proposal</a:t>
                      </a:r>
                      <a:endParaRPr sz="1400" b="1" dirty="0">
                        <a:solidFill>
                          <a:srgbClr val="C9D1D9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C9D1D9"/>
                          </a:solidFill>
                        </a:rPr>
                        <a:t>Most </a:t>
                      </a:r>
                      <a:r>
                        <a:rPr lang="en-US" sz="1400" dirty="0" err="1">
                          <a:solidFill>
                            <a:srgbClr val="C9D1D9"/>
                          </a:solidFill>
                        </a:rPr>
                        <a:t>importand</a:t>
                      </a:r>
                      <a:r>
                        <a:rPr lang="en-US" sz="1400" dirty="0">
                          <a:solidFill>
                            <a:srgbClr val="C9D1D9"/>
                          </a:solidFill>
                        </a:rPr>
                        <a:t> information needed for Parking a spot. Will be later on approved by the admin</a:t>
                      </a:r>
                      <a:endParaRPr sz="1400" dirty="0">
                        <a:solidFill>
                          <a:srgbClr val="C9D1D9"/>
                        </a:solidFill>
                      </a:endParaRP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C9D1D9"/>
                          </a:solidFill>
                        </a:rPr>
                        <a:t>Graph state (</a:t>
                      </a:r>
                      <a:r>
                        <a:rPr sz="1400" dirty="0" err="1">
                          <a:solidFill>
                            <a:srgbClr val="C9D1D9"/>
                          </a:solidFill>
                        </a:rPr>
                        <a:t>MessagesState</a:t>
                      </a:r>
                      <a:r>
                        <a:rPr sz="1400" dirty="0">
                          <a:solidFill>
                            <a:srgbClr val="C9D1D9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RAG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</a:rPr>
              <a:t>RAGAS — 10 questions · 5 metrics</a:t>
            </a:r>
          </a:p>
        </p:txBody>
      </p:sp>
      <p:pic>
        <p:nvPicPr>
          <p:cNvPr id="4" name="Picture 3" descr="Evals 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8503920" cy="3556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52560" y="1325880"/>
            <a:ext cx="278892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58A6FF"/>
                </a:solidFill>
              </a:rPr>
              <a:t>Metric guide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Precision  0.93  — right chunks retrieved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Recall  1.00  — no relevant info missed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Faithfulness  1.00  — no hallucinations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Relevancy  0.94  — responses on-topic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Noise Sensitivity  0.44  — lower is better</a:t>
            </a:r>
          </a:p>
          <a:p>
            <a:pPr algn="l"/>
            <a:r>
              <a:rPr sz="1100" b="0" dirty="0">
                <a:solidFill>
                  <a:srgbClr val="C9D1D9"/>
                </a:solidFill>
              </a:rPr>
              <a:t>All 10: polite</a:t>
            </a:r>
            <a:endParaRPr lang="en-US" sz="1100" b="0" dirty="0">
              <a:solidFill>
                <a:srgbClr val="C9D1D9"/>
              </a:solidFill>
            </a:endParaRPr>
          </a:p>
          <a:p>
            <a:pPr algn="l"/>
            <a:endParaRPr lang="en-US" sz="1100" dirty="0">
              <a:solidFill>
                <a:srgbClr val="C9D1D9"/>
              </a:solidFill>
            </a:endParaRPr>
          </a:p>
          <a:p>
            <a:r>
              <a:rPr lang="en-US" sz="1100" b="1" dirty="0" err="1">
                <a:solidFill>
                  <a:srgbClr val="58A6FF"/>
                </a:solidFill>
              </a:rPr>
              <a:t>langSmith</a:t>
            </a:r>
            <a:endParaRPr lang="en-US" sz="1100" b="1" dirty="0">
              <a:solidFill>
                <a:srgbClr val="58A6FF"/>
              </a:solidFill>
            </a:endParaRPr>
          </a:p>
          <a:p>
            <a:pPr algn="l"/>
            <a:endParaRPr lang="en-US" sz="1100" b="0" dirty="0">
              <a:solidFill>
                <a:srgbClr val="C9D1D9"/>
              </a:solidFill>
            </a:endParaRPr>
          </a:p>
          <a:p>
            <a:pPr algn="l"/>
            <a:r>
              <a:rPr lang="en-US" sz="1100" b="0" dirty="0">
                <a:solidFill>
                  <a:srgbClr val="C9D1D9"/>
                </a:solidFill>
              </a:rPr>
              <a:t>Also, set up </a:t>
            </a:r>
            <a:r>
              <a:rPr lang="en-US" sz="1100" b="0" dirty="0" err="1">
                <a:solidFill>
                  <a:srgbClr val="C9D1D9"/>
                </a:solidFill>
              </a:rPr>
              <a:t>LangSmith</a:t>
            </a:r>
            <a:r>
              <a:rPr lang="en-US" sz="1100" b="0" dirty="0">
                <a:solidFill>
                  <a:srgbClr val="C9D1D9"/>
                </a:solidFill>
              </a:rPr>
              <a:t> </a:t>
            </a:r>
            <a:r>
              <a:rPr lang="en-US" sz="1100" b="0" dirty="0" err="1">
                <a:solidFill>
                  <a:srgbClr val="C9D1D9"/>
                </a:solidFill>
              </a:rPr>
              <a:t>api</a:t>
            </a:r>
            <a:r>
              <a:rPr lang="en-US" sz="1100" b="0" dirty="0">
                <a:solidFill>
                  <a:srgbClr val="C9D1D9"/>
                </a:solidFill>
              </a:rPr>
              <a:t> key </a:t>
            </a:r>
            <a:r>
              <a:rPr lang="en-US" sz="1100" b="0">
                <a:solidFill>
                  <a:srgbClr val="C9D1D9"/>
                </a:solidFill>
              </a:rPr>
              <a:t>for tracing</a:t>
            </a:r>
            <a:endParaRPr sz="1100" b="0" dirty="0"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eb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86" y="320040"/>
            <a:ext cx="11569739" cy="63803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1828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</a:rPr>
              <a:t>CityPark Assistant — web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7220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1" dirty="0">
                <a:solidFill>
                  <a:srgbClr val="6E7681"/>
                </a:solidFill>
              </a:rPr>
              <a:t>Another tab for admin approval will later be added too </a:t>
            </a:r>
            <a:endParaRPr sz="1200" b="0" i="1" dirty="0">
              <a:solidFill>
                <a:srgbClr val="6E768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528</Words>
  <Application>Microsoft Office PowerPoint</Application>
  <PresentationFormat>Custom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Yauheni Hil</cp:lastModifiedBy>
  <cp:revision>3</cp:revision>
  <dcterms:created xsi:type="dcterms:W3CDTF">2013-01-27T09:14:16Z</dcterms:created>
  <dcterms:modified xsi:type="dcterms:W3CDTF">2026-05-30T10:34:55Z</dcterms:modified>
  <cp:category/>
</cp:coreProperties>
</file>